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基于真实数据与机器学习的
高级选择权定价模型</a:t>
            </a:r>
          </a:p>
          <a:p>
            <a:pPr algn="ctr"/>
            <a:r>
              <a:rPr sz="1800">
                <a:solidFill>
                  <a:srgbClr val="FDAE61"/>
                </a:solidFill>
              </a:rPr>
              <a:t>Quantitative Research &amp; Trading — Chooser Option Pricing (8 Weeks)</a:t>
            </a:r>
          </a:p>
          <a:p>
            <a:pPr algn="ctr"/>
            <a:r>
              <a:rPr sz="1600">
                <a:solidFill>
                  <a:srgbClr val="FFFFFF"/>
                </a:solidFill>
              </a:rPr>
              <a:t>Week 8 最终交付 · 可部署定价工具 + 最终报告 + 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项目概述与目标</a:t>
            </a:r>
          </a:p>
          <a:p>
            <a:r>
              <a:rPr sz="1300">
                <a:solidFill>
                  <a:srgbClr val="4A4A4A"/>
                </a:solidFill>
              </a:rP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选择权期权（Chooser Option）：选择日决定行权为欧式看涨/看跌，统一 K 与 T2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业务价值：结构化产品、风险管理（财报/FOMC）、专有交易策略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核心问题：BSM 假设恒定波动率，需以真实数据 + ML 提升定价精度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5 大目标：BSM 复现验证 → 多维数据 → ML 优化波动率 → 量化改进 → 可部署工具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8 周推进：数据(1-2) → BSM 基线(3-4) → 双轨 ML(5-6) → 敏感性与工具(7-8)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数据与特征工程（第 1–2 周）</a:t>
            </a:r>
          </a:p>
          <a:p>
            <a:r>
              <a:rPr sz="1300">
                <a:solidFill>
                  <a:srgbClr val="4A4A4A"/>
                </a:solidFill>
              </a:rPr>
              <a:t>Data Collection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数据源：Yahoo Finance / Alpha Vantage / FRED；JPM 日线 + VIX + 3M 国债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区间 2018-01–2024-12，清洗后 1755 行 × 20 列（插值缺失 / IQR 剔除异常）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基础特征：5/21/63 日滚动波动率、日收益、股息增长、区间振幅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新特征：sentiment_score(0-1)、vix_ratio、VIX-JPM 相关/交叉、利率动量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自动化流水线 + GitHub Actions 调度，全部特征后视构造防前瞻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BSM 模型复现与基线评估（第 3–4 周）</a:t>
            </a:r>
          </a:p>
          <a:p>
            <a:r>
              <a:rPr sz="1300">
                <a:solidFill>
                  <a:srgbClr val="4A4A4A"/>
                </a:solidFill>
              </a:rPr>
              <a:t>BSM Replication &amp;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Rubinstein (1991) 简单选择权：P = C(S,K,T2) + P(S,Ke^{-q(T2-t1)}, t1)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参数对齐论文：K = $150、T2 = 1 年、t1 = 0.5 年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BSM(vol_21d) 基线（2026-07-27 实盘快照，595 合约）：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5661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Week 4 基线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实盘 MAE ($)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$1.44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BSM(vol_21d) 静态波动率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ATM IV 溢价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模型 IV vs 市场 ATM 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OTM 看跌定价偏差 (%)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$-65.7$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系统低估 OTM 看跌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合成测试集 Chooser MAE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$1.52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2024 共 208 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机器学习双轨架构（第 5 周）</a:t>
            </a:r>
          </a:p>
          <a:p>
            <a:r>
              <a:rPr sz="1300">
                <a:solidFill>
                  <a:srgbClr val="4A4A4A"/>
                </a:solidFill>
              </a:rPr>
              <a:t>Dual-Track 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方法一（首选）：ML 波动率预测 + BSM 定价引擎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–   LSTM / RandomForest / GBDT / XGBoost / VIX-proxy（以 VIX/100 为 σ）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方法二：端到端监督定价（Linear / GBDT / MLP，合约网格特征）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反前瞻保障：70/15/15 时序分割、特征后视、目标错位、Scaler 训练集拟合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Week 6 调优前诊断：已实现波动率目标噪声大 → 系统性加大正则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模型训练、调优与比较（第 6 周）</a:t>
            </a:r>
          </a:p>
          <a:p>
            <a:r>
              <a:rPr sz="1300">
                <a:solidFill>
                  <a:srgbClr val="4A4A4A"/>
                </a:solidFill>
              </a:rPr>
              <a:t>Training, Tuning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超参优化：purged 时序 CV（扩张窗口 + 21 日 embargo）+ 随机搜索 → 强正则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波动率预测首次越过 persistence 门槛：GBDT-anchored 7.16% &lt; 7.32%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Chooser 定价（合成测试集）：VIX-proxy $1.17 vs BSM $1.52，改善 23%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方法二调优后仍逊于静态 BSM（$3.69 / $4.61 vs $1.77）→ 方法一为最终首选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SHAP：以市场隐含波动率为目标时，位置/状态特征（sentiment、vix_ratio）主导</a:t>
            </a:r>
          </a:p>
        </p:txBody>
      </p:sp>
      <p:pic>
        <p:nvPicPr>
          <p:cNvPr id="4" name="Picture 3" descr="fig_w8_vo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2378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实盘指标：三项目标全部达成</a:t>
            </a:r>
          </a:p>
          <a:p>
            <a:r>
              <a:rPr sz="1300">
                <a:solidFill>
                  <a:srgbClr val="4A4A4A"/>
                </a:solidFill>
              </a:rPr>
              <a:t>Live-Snapshot Targets Achieved (XGBoost)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1920240"/>
                <a:gridCol w="2103120"/>
                <a:gridCol w="173736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Week 4 基线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Week 5 (RF)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Week 6 最优 (XGB)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目标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达成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实盘 MAE ($)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1.44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0.79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&lt; 1.00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ATM IV 溢价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&lt;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OTM 看跌偏差 (%)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$-65.7$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$-51.4$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$-29.5$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&gt; -30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Chooser MAE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持续下降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206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调优后 XGBoost 预测 σ ≈ 24.4%，贴近市场 ATM IV 25.2% → IV premium 被捕获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实盘与合成口径排序相反：实盘偏好 XGB（贴近市场 IV），合成偏好 VIX-proxy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高级敏感性分析（第 7 周）</a:t>
            </a:r>
          </a:p>
          <a:p>
            <a:r>
              <a:rPr sz="1300">
                <a:solidFill>
                  <a:srgbClr val="4A4A4A"/>
                </a:solidFill>
              </a:rPr>
              <a:t>Extended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SHAP×Vega 分解：情感/VIX 新特征是价格第一驱动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–   sentiment_score 价格影响 $0.314（0.54% 均值价格），是次高特征 3 倍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ATM 基座极端场景：波动率 +50% → BSM +49% / XGB +70% / VIX-proxy +81%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VIX 冲击 +50%：BSM 无反应，XGB +14% / VIX-proxy +21%（特征重工程）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实盘基座（S=356，深度实值）：波动率敏感性趋零（&lt;0.3%）</a:t>
            </a:r>
          </a:p>
        </p:txBody>
      </p:sp>
      <p:pic>
        <p:nvPicPr>
          <p:cNvPr id="4" name="Picture 3" descr="fig_w7_scenarios_a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486400" cy="27205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最终定价工具（第 8 周）：可视化仪表板</a:t>
            </a:r>
          </a:p>
          <a:p>
            <a:r>
              <a:rPr sz="1300">
                <a:solidFill>
                  <a:srgbClr val="4A4A4A"/>
                </a:solidFill>
              </a:rPr>
              <a:t>Final Tool — Complete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双轨定价：BSM(vol_21d) vs 最优 ML（XGB / VIX-proxy / GBDT-anchored）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误差条：每项定价 ± Week-6 测试集 MAE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六个标签页：价格趋势 / 敏感性 / 极端场景 / 性能指标 / 误差范围 / 实时数据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价格趋势：2018–2024 历史重定价 + 实时点；性能指标：Week-6 指标图表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实时数据：data_updater + GitHub Actions 工作日自动刷新</a:t>
            </a:r>
          </a:p>
        </p:txBody>
      </p:sp>
      <p:pic>
        <p:nvPicPr>
          <p:cNvPr id="4" name="Picture 3" descr="ui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85216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定价工具界面</a:t>
            </a:r>
          </a:p>
          <a:p>
            <a:r>
              <a:rPr sz="1300">
                <a:solidFill>
                  <a:srgbClr val="4A4A4A"/>
                </a:solidFill>
              </a:rPr>
              <a:t>Tool UI (captured from the running app)</a:t>
            </a:r>
          </a:p>
        </p:txBody>
      </p:sp>
      <p:pic>
        <p:nvPicPr>
          <p:cNvPr id="3" name="Picture 2" descr="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69280" cy="3366135"/>
          </a:xfrm>
          <a:prstGeom prst="rect">
            <a:avLst/>
          </a:prstGeom>
        </p:spPr>
      </p:pic>
      <p:pic>
        <p:nvPicPr>
          <p:cNvPr id="4" name="Picture 3" descr="ui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48640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核心发现与投资启示</a:t>
            </a:r>
          </a:p>
          <a:p>
            <a:r>
              <a:rPr sz="1300">
                <a:solidFill>
                  <a:srgbClr val="4A4A4A"/>
                </a:solidFill>
              </a:rPr>
              <a:t>Key Findings &amp; Investment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以市场隐含波动率为目标是定价改善最大来源（VIX-proxy，-23% MAE）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正则化越过 persistence 门槛（GBDT-anchored 7.16%），实盘三目标全达成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ML 在极端场景放大波动率风险敞口，但通过特征重工程捕获 VIX 跳升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投资启示 1：静态 BSM 系统性低估高波动/恐慌期 → 用 ML 定价捕捉 IV premium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投资启示 2：深度实值 Chooser 波动率不敏感 → 对冲关注 delta 而非 vega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投资启示 3：双轨定价 + 误差条量化模型不确定性，支持交易决策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交付物清单</a:t>
            </a:r>
          </a:p>
          <a:p>
            <a:r>
              <a:rPr sz="1300">
                <a:solidFill>
                  <a:srgbClr val="4A4A4A"/>
                </a:solidFill>
              </a:rPr>
              <a:t>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50292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交付物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文件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定价工具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streamlit_app.py + dashboard.py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双轨定价 + 误差条 + 完整仪表板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最终报告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Week_8_实验报告.pdf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11 页，整合 8 周发现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演示文稿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Week_8_Final_Presentation.pptx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本套件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演示脚本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demo_script.md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5–10 分钟工具演示视频脚本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GitHub 仓库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README.md + 代码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可部署工具，含运行说明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局限性与未来工作</a:t>
            </a:r>
          </a:p>
          <a:p>
            <a:r>
              <a:rPr sz="1300">
                <a:solidFill>
                  <a:srgbClr val="4A4A4A"/>
                </a:solidFill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真实 JPM 单票期权历史 IV 不可得（公开 API 仅单日快照）→ VIX 代理延续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方法二端到端样本瓶颈；接入真实期权价格标签后可再验证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实盘指标仅单快照（2026-07-27）验证，需真实环境多日回测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3B57"/>
                </a:solidFill>
              </a:rPr>
              <a:t>• 未来：复杂选择权（复合/部分）、随机波动率（Hull-White）、跳跃扩散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谢谢 / Thank You</a:t>
            </a:r>
          </a:p>
          <a:p>
            <a:pPr algn="ctr"/>
            <a:r>
              <a:rPr sz="1600">
                <a:solidFill>
                  <a:srgbClr val="FDAE61"/>
                </a:solidFill>
              </a:rPr>
              <a:t>Chooser Option Pricing with Real-World Data &amp; ML — 8 周完整交付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